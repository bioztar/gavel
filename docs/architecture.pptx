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25000"/>
                </a:solidFill>
                <a:latin typeface="Helvetica Neue"/>
              </a:rPr>
              <a:t>GAVEL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300" b="1" i="0">
                <a:solidFill>
                  <a:srgbClr val="1D1D1F"/>
                </a:solidFill>
                <a:latin typeface="Helvetica Neue"/>
              </a:rPr>
              <a:t>Karen sits </a:t>
            </a:r>
            <a:r>
              <a:rPr sz="3300" b="1" i="1">
                <a:solidFill>
                  <a:srgbClr val="0071E3"/>
                </a:solidFill>
                <a:latin typeface="Helvetica Neue"/>
              </a:rPr>
              <a:t>in the call</a:t>
            </a:r>
            <a:r>
              <a:rPr sz="3300" b="1" i="0">
                <a:solidFill>
                  <a:srgbClr val="1D1D1F"/>
                </a:solidFill>
                <a:latin typeface="Helvetica Ne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73"/>
                </a:solidFill>
                <a:latin typeface="Helvetica Neue"/>
              </a:rPr>
              <a:t>Hears everyone. Decides in code. Speaks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16916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kar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95728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39312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D1D1F"/>
                </a:solidFill>
                <a:latin typeface="Helvetica Neue"/>
              </a:rPr>
              <a:t>Karen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58768"/>
            <a:ext cx="1691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the chair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2148840"/>
            <a:ext cx="278892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88336" y="233172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87443"/>
                </a:solidFill>
                <a:latin typeface="Helvetica Neue"/>
              </a:rPr>
              <a:t>HEAR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88336" y="2715768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087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2679192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Discord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84378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the 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8336" y="3374136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087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SL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337560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SLNG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350215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speech →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88336" y="4032503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087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3995928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Postgres · 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4160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04688" y="2148840"/>
            <a:ext cx="278892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705855" y="233172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1E3"/>
                </a:solidFill>
                <a:latin typeface="Helvetica Neue"/>
              </a:rPr>
              <a:t>THINK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05855" y="2715768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2679192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284378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every 250 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05855" y="3374136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6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3337560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Mastra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350215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the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5855" y="4032503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912" y="3995928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Nebius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4160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the words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22208" y="2148840"/>
            <a:ext cx="278892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723376" y="233172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25000"/>
                </a:solidFill>
                <a:latin typeface="Helvetica Neue"/>
              </a:rPr>
              <a:t>SPEAK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23376" y="2715768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087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SL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2679192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SLNG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284378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text → speech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23376" y="3374136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B2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fal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3337560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fal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350215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her face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23376" y="4032503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B2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3995928"/>
            <a:ext cx="193852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Vonage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1432" y="41605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the stage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8928" y="3310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C2C6D2"/>
                </a:solidFill>
                <a:latin typeface="Helvetica Neue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3310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C2C6D2"/>
                </a:solidFill>
                <a:latin typeface="Helvetica Neue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074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B25000"/>
                </a:solidFill>
                <a:latin typeface="Helvetica Neue"/>
              </a:rPr>
              <a:t>↩  back into the same call  —  Vonage · Discord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25000"/>
                </a:solidFill>
                <a:latin typeface="Helvetica Neue"/>
              </a:rPr>
              <a:t>NOT ON THE LIVE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300" b="1" i="0">
                <a:solidFill>
                  <a:srgbClr val="1D1D1F"/>
                </a:solidFill>
                <a:latin typeface="Helvetica Neue"/>
              </a:rPr>
              <a:t>Built and </a:t>
            </a:r>
            <a:r>
              <a:rPr sz="3300" b="1" i="1">
                <a:solidFill>
                  <a:srgbClr val="0071E3"/>
                </a:solidFill>
                <a:latin typeface="Helvetica Neue"/>
              </a:rPr>
              <a:t>checked</a:t>
            </a:r>
            <a:r>
              <a:rPr sz="3300" b="1" i="0">
                <a:solidFill>
                  <a:srgbClr val="1D1D1F"/>
                </a:solidFill>
                <a:latin typeface="Helvetica Neue"/>
              </a:rPr>
              <a:t> by machines too.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73"/>
                </a:solidFill>
                <a:latin typeface="Helvetica Neue"/>
              </a:rPr>
              <a:t>Whether to interrupt is plain code. Only her words go to a model — so only her words need evals.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358444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04672" y="2377440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89504"/>
            <a:ext cx="3072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Devin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127248"/>
            <a:ext cx="3072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three PRs, all merged into 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56432"/>
            <a:ext cx="3072384" cy="2011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150" b="1">
                <a:solidFill>
                  <a:srgbClr val="0071E3"/>
                </a:solidFill>
                <a:latin typeface="Helvetica Neue"/>
              </a:rPr>
              <a:t>#1  </a:t>
            </a:r>
            <a:r>
              <a:rPr sz="1150">
                <a:solidFill>
                  <a:srgbClr val="1D1D1F"/>
                </a:solidFill>
                <a:latin typeface="Helvetica Neue"/>
              </a:rPr>
              <a:t>Chair eval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639312"/>
            <a:ext cx="30723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ten frozen cases, offline scorer, results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041648"/>
            <a:ext cx="3072384" cy="2011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150" b="1">
                <a:solidFill>
                  <a:srgbClr val="0071E3"/>
                </a:solidFill>
                <a:latin typeface="Helvetica Neue"/>
              </a:rPr>
              <a:t>#2  </a:t>
            </a:r>
            <a:r>
              <a:rPr sz="1150">
                <a:solidFill>
                  <a:srgbClr val="1D1D1F"/>
                </a:solidFill>
                <a:latin typeface="Helvetica Neue"/>
              </a:rPr>
              <a:t>Recurring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224528"/>
            <a:ext cx="30723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RRULE/RDATE/EXDATE expanded in the feed poller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626864"/>
            <a:ext cx="3072384" cy="20116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150" b="1">
                <a:solidFill>
                  <a:srgbClr val="0071E3"/>
                </a:solidFill>
                <a:latin typeface="Helvetica Neue"/>
              </a:rPr>
              <a:t>#3  </a:t>
            </a:r>
            <a:r>
              <a:rPr sz="1150">
                <a:solidFill>
                  <a:srgbClr val="1D1D1F"/>
                </a:solidFill>
                <a:latin typeface="Helvetica Neue"/>
              </a:rPr>
              <a:t>Shorter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809744"/>
            <a:ext cx="30723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spoken chair lines fitted to the 20-word budget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148840"/>
            <a:ext cx="358444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572000" y="2377440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087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QC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89504"/>
            <a:ext cx="3072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Quality Clouds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27248"/>
            <a:ext cx="3072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Norma scanned the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64992"/>
            <a:ext cx="3072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87443"/>
                </a:solidFill>
                <a:latin typeface="Helvetica Neue"/>
              </a:rPr>
              <a:t>findings fixed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749039"/>
            <a:ext cx="3072384" cy="868680"/>
          </a:xfrm>
          <a:prstGeom prst="roundRect">
            <a:avLst>
              <a:gd name="adj" fmla="val 6000"/>
            </a:avLst>
          </a:prstGeom>
          <a:solidFill>
            <a:srgbClr val="FBFBFD"/>
          </a:solidFill>
          <a:ln w="12700">
            <a:solidFill>
              <a:srgbClr val="C9CA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727448" y="3913632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D1D1F"/>
                </a:solidFill>
                <a:latin typeface="Helvetica Neue"/>
              </a:rPr>
              <a:t>What it improved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133087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B0B3BE"/>
                </a:solidFill>
                <a:latin typeface="Helvetica Neue"/>
              </a:rPr>
              <a:t>— fill in before the pitch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2148840"/>
            <a:ext cx="358444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339327" y="2377440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6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889504"/>
            <a:ext cx="3072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D1D1F"/>
                </a:solidFill>
                <a:latin typeface="Helvetica Neue"/>
              </a:rPr>
              <a:t>Galtea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127248"/>
            <a:ext cx="3072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E6E73"/>
                </a:solidFill>
                <a:latin typeface="Helvetica Neue"/>
              </a:rPr>
              <a:t>ten frozen cases, traces 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364992"/>
            <a:ext cx="30723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3FD6"/>
                </a:solidFill>
                <a:latin typeface="Helvetica Neue"/>
              </a:rPr>
              <a:t>scored, 5 dimensions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9327" y="3749039"/>
            <a:ext cx="3072384" cy="868680"/>
          </a:xfrm>
          <a:prstGeom prst="roundRect">
            <a:avLst>
              <a:gd name="adj" fmla="val 6000"/>
            </a:avLst>
          </a:prstGeom>
          <a:solidFill>
            <a:srgbClr val="FBFBFD"/>
          </a:solidFill>
          <a:ln w="12700">
            <a:solidFill>
              <a:srgbClr val="C9CA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94776" y="3913632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D1D1F"/>
                </a:solidFill>
                <a:latin typeface="Helvetica Neue"/>
              </a:rPr>
              <a:t>What it improved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4776" y="4133087"/>
            <a:ext cx="2761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B0B3BE"/>
                </a:solidFill>
                <a:latin typeface="Helvetica Neue"/>
              </a:rPr>
              <a:t>— fill in before the pitch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25000"/>
                </a:solidFill>
                <a:latin typeface="Helvetica Neue"/>
              </a:rPr>
              <a:t>WHERE THIS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300" b="1" i="0">
                <a:solidFill>
                  <a:srgbClr val="1D1D1F"/>
                </a:solidFill>
                <a:latin typeface="Helvetica Neue"/>
              </a:rPr>
              <a:t>Discord was the </a:t>
            </a:r>
            <a:r>
              <a:rPr sz="3300" b="1" i="1">
                <a:solidFill>
                  <a:srgbClr val="0071E3"/>
                </a:solidFill>
                <a:latin typeface="Helvetica Neue"/>
              </a:rPr>
              <a:t>demo</a:t>
            </a:r>
            <a:r>
              <a:rPr sz="3300" b="1" i="0">
                <a:solidFill>
                  <a:srgbClr val="1D1D1F"/>
                </a:solidFill>
                <a:latin typeface="Helvetica Neue"/>
              </a:rPr>
              <a:t>. Teams is the </a:t>
            </a:r>
            <a:r>
              <a:rPr sz="3300" b="1" i="1">
                <a:solidFill>
                  <a:srgbClr val="0071E3"/>
                </a:solidFill>
                <a:latin typeface="Helvetica Neue"/>
              </a:rPr>
              <a:t>product</a:t>
            </a:r>
            <a:r>
              <a:rPr sz="3300" b="1" i="0">
                <a:solidFill>
                  <a:srgbClr val="1D1D1F"/>
                </a:solidFill>
                <a:latin typeface="Helvetica Neu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8988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73"/>
                </a:solidFill>
                <a:latin typeface="Helvetica Neue"/>
              </a:rPr>
              <a:t>One container knows what a voice call is. Everything else already doesn't care.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2286000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1E3"/>
                </a:solidFill>
                <a:latin typeface="Helvetica Neue"/>
              </a:rPr>
              <a:t>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2651760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087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615184"/>
            <a:ext cx="2633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Discord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779776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one room,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1031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72584" y="2286000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E6E73"/>
                </a:solidFill>
                <a:latin typeface="Helvetica Neue"/>
              </a:rPr>
              <a:t>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2584" y="2651760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0874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GM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615184"/>
            <a:ext cx="2633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Google Meet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79776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adapter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72584" y="3255264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218688"/>
            <a:ext cx="2633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Zoom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3832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adapter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7616" y="210312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577072" y="2286000"/>
            <a:ext cx="30815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E6E73"/>
                </a:solidFill>
                <a:latin typeface="Helvetica Neue"/>
              </a:rPr>
              <a:t>THEN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7072" y="2651760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4B5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615184"/>
            <a:ext cx="2633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Microsoft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2779776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enterprise add-on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7072" y="3255264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0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3218688"/>
            <a:ext cx="2633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Company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383280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set once, enforced in every meeting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7072" y="3858768"/>
            <a:ext cx="329184" cy="329184"/>
          </a:xfrm>
          <a:prstGeom prst="roundRect">
            <a:avLst>
              <a:gd name="adj" fmla="val 26000"/>
            </a:avLst>
          </a:prstGeom>
          <a:solidFill>
            <a:srgbClr val="9A5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5128" y="3822192"/>
            <a:ext cx="2633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D1D1F"/>
                </a:solidFill>
                <a:latin typeface="Helvetica Neue"/>
              </a:rPr>
              <a:t>Hand-off plugin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3986784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6E73"/>
                </a:solidFill>
                <a:latin typeface="Helvetica Neue"/>
              </a:rPr>
              <a:t>transcript, decisions and open items into the team's knowledge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1089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C2C6D2"/>
                </a:solidFill>
                <a:latin typeface="Helvetica Neue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31089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C2C6D2"/>
                </a:solidFill>
                <a:latin typeface="Helvetica Neue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09160"/>
            <a:ext cx="1106424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1D1D1F"/>
                </a:solidFill>
                <a:latin typeface="Helvetica Neue"/>
              </a:rPr>
              <a:t>Time governance</a:t>
            </a:r>
            <a:r>
              <a:rPr sz="1400">
                <a:solidFill>
                  <a:srgbClr val="1D1D1F"/>
                </a:solidFill>
                <a:latin typeface="Helvetica Neue"/>
              </a:rPr>
              <a:t>, not meeting notes.  </a:t>
            </a:r>
            <a:r>
              <a:rPr sz="1200">
                <a:solidFill>
                  <a:srgbClr val="6E6E73"/>
                </a:solidFill>
                <a:latin typeface="Helvetica Neue"/>
              </a:rPr>
              <a:t>Notes tell you what happened. Karen changes what happens — inside the hour. At enterprise scale the rules stop being per-meeting: no agenda, no booking, and how hard she chairs is set company-wide, not by whoever called the meeting. And what the meeting produced does not stop at the call: the transcript, the decisions and the open items are handed to whatever agent already keeps the company's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