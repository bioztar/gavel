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Karen sits in the call. Hear: Discord, SLNG speech-to-text, Postgres and Redis. Think: rules four times a second, Mastra orchestration, Nebius for the words. Speak: SLNG back into the call, fal moves her face, Vonage for the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 and checked by machines too. Devin wrote PRs, Quality Clouds scanned the repo, Galtea scored the chair, Langfuse traced every model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Discord was the demo. Teams is the product. Company rules set once, and a hand-off plugin that pushes the transcript, decisions and open items into the team's own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727200" y="1324967"/>
            <a:ext cx="3031132" cy="4600475"/>
          </a:xfrm>
          <a:prstGeom prst="roundRect">
            <a:avLst>
              <a:gd name="adj" fmla="val 4189"/>
            </a:avLst>
          </a:prstGeom>
          <a:solidFill>
            <a:srgbClr val="FFFFFF"/>
          </a:solidFill>
          <a:ln w="9525">
            <a:solidFill>
              <a:srgbClr val="E4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221783" y="1324967"/>
            <a:ext cx="3031132" cy="4600475"/>
          </a:xfrm>
          <a:prstGeom prst="roundRect">
            <a:avLst>
              <a:gd name="adj" fmla="val 4189"/>
            </a:avLst>
          </a:prstGeom>
          <a:solidFill>
            <a:srgbClr val="FFFFFF"/>
          </a:solidFill>
          <a:ln w="9525">
            <a:solidFill>
              <a:srgbClr val="E4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716367" y="1324967"/>
            <a:ext cx="3031132" cy="4600475"/>
          </a:xfrm>
          <a:prstGeom prst="roundRect">
            <a:avLst>
              <a:gd name="adj" fmla="val 4189"/>
            </a:avLst>
          </a:prstGeom>
          <a:solidFill>
            <a:srgbClr val="FFFFFF"/>
          </a:solidFill>
          <a:ln w="9525">
            <a:solidFill>
              <a:srgbClr val="E4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eck-glyphs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4500" y="288032"/>
            <a:ext cx="11493500" cy="1955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80" b="0" spc="308">
                <a:solidFill>
                  <a:srgbClr val="6E6E73"/>
                </a:solidFill>
                <a:latin typeface="Helvetica Neue"/>
              </a:rPr>
              <a:t>GAVEL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500" y="524470"/>
            <a:ext cx="11493500" cy="6407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060" b="1" spc="-145">
                <a:solidFill>
                  <a:srgbClr val="1D1D1F"/>
                </a:solidFill>
                <a:latin typeface="Helvetica Neue"/>
              </a:rPr>
              <a:t>Karen sits </a:t>
            </a:r>
            <a:r>
              <a:rPr sz="4060" b="1" spc="-145">
                <a:solidFill>
                  <a:srgbClr val="0071E3"/>
                </a:solidFill>
                <a:latin typeface="Helvetica Neue"/>
              </a:rPr>
              <a:t>in the call</a:t>
            </a:r>
            <a:r>
              <a:rPr sz="4060" b="1" spc="-145">
                <a:solidFill>
                  <a:srgbClr val="1D1D1F"/>
                </a:solidFill>
                <a:latin typeface="Helvetica Neue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" y="974129"/>
            <a:ext cx="11493500" cy="2933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70" b="0">
                <a:solidFill>
                  <a:srgbClr val="6E6E73"/>
                </a:solidFill>
                <a:latin typeface="Helvetica Neue"/>
              </a:rPr>
              <a:t>Hears everyone. Decides in code. Speaks 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724" y="4001392"/>
            <a:ext cx="880179" cy="2654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30" b="1">
                <a:solidFill>
                  <a:srgbClr val="1D1D1F"/>
                </a:solidFill>
                <a:latin typeface="Helvetica Neue"/>
              </a:rPr>
              <a:t>Karen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264" y="4245867"/>
            <a:ext cx="1270625" cy="1955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80" b="0" spc="196">
                <a:solidFill>
                  <a:srgbClr val="6E6E73"/>
                </a:solidFill>
                <a:latin typeface="Helvetica Neue"/>
              </a:rPr>
              <a:t>THE CHAIR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4050" y="2384623"/>
            <a:ext cx="5227022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90" b="1" spc="340">
                <a:solidFill>
                  <a:srgbClr val="087443"/>
                </a:solidFill>
                <a:latin typeface="Helvetica Neue"/>
              </a:rPr>
              <a:t>HEAR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5850" y="3077467"/>
            <a:ext cx="1409263" cy="363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20" b="1" spc="-26">
                <a:solidFill>
                  <a:srgbClr val="1D1D1F"/>
                </a:solidFill>
                <a:latin typeface="Helvetica Neue"/>
              </a:rPr>
              <a:t>Discord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5850" y="3331467"/>
            <a:ext cx="1307663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36">
                <a:solidFill>
                  <a:srgbClr val="6E6E73"/>
                </a:solidFill>
                <a:latin typeface="Helvetica Neue"/>
              </a:rPr>
              <a:t>the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5850" y="4033837"/>
            <a:ext cx="1762918" cy="363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20" b="1" spc="-26">
                <a:solidFill>
                  <a:srgbClr val="1D1D1F"/>
                </a:solidFill>
                <a:latin typeface="Helvetica Neue"/>
              </a:rPr>
              <a:t>SLNG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5850" y="4287837"/>
            <a:ext cx="1661318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36">
                <a:solidFill>
                  <a:srgbClr val="6E6E73"/>
                </a:solidFill>
                <a:latin typeface="Helvetica Neue"/>
              </a:rPr>
              <a:t>speech →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7650" y="4990107"/>
            <a:ext cx="2549971" cy="363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20" b="1" spc="-26">
                <a:solidFill>
                  <a:srgbClr val="1D1D1F"/>
                </a:solidFill>
                <a:latin typeface="Helvetica Neue"/>
              </a:rPr>
              <a:t>Postgres · Redis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7650" y="5244107"/>
            <a:ext cx="2448371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36">
                <a:solidFill>
                  <a:srgbClr val="6E6E73"/>
                </a:solidFill>
                <a:latin typeface="Helvetica Neue"/>
              </a:rPr>
              <a:t>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5332" y="3510855"/>
            <a:ext cx="855156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20" b="0">
                <a:solidFill>
                  <a:srgbClr val="C2C6D2"/>
                </a:solidFill>
                <a:latin typeface="Helvetica Neue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8633" y="2384623"/>
            <a:ext cx="5227022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90" b="1" spc="340">
                <a:solidFill>
                  <a:srgbClr val="0071E3"/>
                </a:solidFill>
                <a:latin typeface="Helvetica Neue"/>
              </a:rPr>
              <a:t>THINK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0433" y="3077467"/>
            <a:ext cx="1700143" cy="363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20" b="1" spc="-26">
                <a:solidFill>
                  <a:srgbClr val="1D1D1F"/>
                </a:solidFill>
                <a:latin typeface="Helvetica Neue"/>
              </a:rPr>
              <a:t>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0433" y="3331467"/>
            <a:ext cx="1598543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36">
                <a:solidFill>
                  <a:srgbClr val="6E6E73"/>
                </a:solidFill>
                <a:latin typeface="Helvetica Neue"/>
              </a:rPr>
              <a:t>every 250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0433" y="4033837"/>
            <a:ext cx="1300301" cy="363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20" b="1" spc="-26">
                <a:solidFill>
                  <a:srgbClr val="1D1D1F"/>
                </a:solidFill>
                <a:latin typeface="Helvetica Neue"/>
              </a:rPr>
              <a:t>Mastra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0433" y="4287837"/>
            <a:ext cx="1198701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36">
                <a:solidFill>
                  <a:srgbClr val="6E6E73"/>
                </a:solidFill>
                <a:latin typeface="Helvetica Neue"/>
              </a:rPr>
              <a:t>the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0433" y="4990107"/>
            <a:ext cx="1326693" cy="363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20" b="1" spc="-26">
                <a:solidFill>
                  <a:srgbClr val="1D1D1F"/>
                </a:solidFill>
                <a:latin typeface="Helvetica Neue"/>
              </a:rPr>
              <a:t>Nebius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0433" y="5244107"/>
            <a:ext cx="1225093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36">
                <a:solidFill>
                  <a:srgbClr val="6E6E73"/>
                </a:solidFill>
                <a:latin typeface="Helvetica Neue"/>
              </a:rPr>
              <a:t>the words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9916" y="3510855"/>
            <a:ext cx="855156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20" b="0">
                <a:solidFill>
                  <a:srgbClr val="C2C6D2"/>
                </a:solidFill>
                <a:latin typeface="Helvetica Neue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3217" y="2384623"/>
            <a:ext cx="3024782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90" b="1" spc="340">
                <a:solidFill>
                  <a:srgbClr val="B25000"/>
                </a:solidFill>
                <a:latin typeface="Helvetica Neue"/>
              </a:rPr>
              <a:t>SPEAK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017" y="3077467"/>
            <a:ext cx="1762918" cy="363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20" b="1" spc="-26">
                <a:solidFill>
                  <a:srgbClr val="1D1D1F"/>
                </a:solidFill>
                <a:latin typeface="Helvetica Neue"/>
              </a:rPr>
              <a:t>SLNG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5017" y="3331467"/>
            <a:ext cx="1661318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36">
                <a:solidFill>
                  <a:srgbClr val="6E6E73"/>
                </a:solidFill>
                <a:latin typeface="Helvetica Neue"/>
              </a:rPr>
              <a:t>text → speech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5017" y="4033837"/>
            <a:ext cx="1154013" cy="363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20" b="1" spc="-26">
                <a:solidFill>
                  <a:srgbClr val="1D1D1F"/>
                </a:solidFill>
                <a:latin typeface="Helvetica Neue"/>
              </a:rPr>
              <a:t>fal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017" y="4287837"/>
            <a:ext cx="1052413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36">
                <a:solidFill>
                  <a:srgbClr val="6E6E73"/>
                </a:solidFill>
                <a:latin typeface="Helvetica Neue"/>
              </a:rPr>
              <a:t>her face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017" y="4990107"/>
            <a:ext cx="1391165" cy="363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20" b="1" spc="-26">
                <a:solidFill>
                  <a:srgbClr val="1D1D1F"/>
                </a:solidFill>
                <a:latin typeface="Helvetica Neue"/>
              </a:rPr>
              <a:t>Vonage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5017" y="5244107"/>
            <a:ext cx="1289565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36">
                <a:solidFill>
                  <a:srgbClr val="6E6E73"/>
                </a:solidFill>
                <a:latin typeface="Helvetica Neue"/>
              </a:rPr>
              <a:t>the stage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203" y="6130329"/>
            <a:ext cx="1422796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>
                <a:solidFill>
                  <a:srgbClr val="6E6E73"/>
                </a:solidFill>
                <a:latin typeface="Helvetica Neue"/>
              </a:rPr>
              <a:t>back into the same 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5900" y="6130329"/>
            <a:ext cx="292100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>
                <a:solidFill>
                  <a:srgbClr val="B25000"/>
                </a:solidFill>
                <a:latin typeface="Helvetica Neue"/>
              </a:rPr>
              <a:t>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4500" y="1324967"/>
            <a:ext cx="3674467" cy="5053012"/>
          </a:xfrm>
          <a:prstGeom prst="roundRect">
            <a:avLst>
              <a:gd name="adj" fmla="val 3456"/>
            </a:avLst>
          </a:prstGeom>
          <a:solidFill>
            <a:srgbClr val="FFFFFF"/>
          </a:solidFill>
          <a:ln w="9525">
            <a:solidFill>
              <a:srgbClr val="E4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58667" y="1324967"/>
            <a:ext cx="3674566" cy="5053012"/>
          </a:xfrm>
          <a:prstGeom prst="roundRect">
            <a:avLst>
              <a:gd name="adj" fmla="val 3456"/>
            </a:avLst>
          </a:prstGeom>
          <a:solidFill>
            <a:srgbClr val="FFFFFF"/>
          </a:solidFill>
          <a:ln w="9525">
            <a:solidFill>
              <a:srgbClr val="E4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455517" y="2967136"/>
            <a:ext cx="3280866" cy="468312"/>
          </a:xfrm>
          <a:prstGeom prst="roundRect">
            <a:avLst>
              <a:gd name="adj" fmla="val 16271"/>
            </a:avLst>
          </a:prstGeom>
          <a:noFill/>
          <a:ln w="9525">
            <a:solidFill>
              <a:srgbClr val="C9C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72933" y="1324967"/>
            <a:ext cx="3674566" cy="5053012"/>
          </a:xfrm>
          <a:prstGeom prst="roundRect">
            <a:avLst>
              <a:gd name="adj" fmla="val 3456"/>
            </a:avLst>
          </a:prstGeom>
          <a:solidFill>
            <a:srgbClr val="FFFFFF"/>
          </a:solidFill>
          <a:ln w="9525">
            <a:solidFill>
              <a:srgbClr val="E4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69783" y="2967136"/>
            <a:ext cx="3280866" cy="468312"/>
          </a:xfrm>
          <a:prstGeom prst="roundRect">
            <a:avLst>
              <a:gd name="adj" fmla="val 16271"/>
            </a:avLst>
          </a:prstGeom>
          <a:noFill/>
          <a:ln w="9525">
            <a:solidFill>
              <a:srgbClr val="C9C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ck-glyphs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4500" y="288032"/>
            <a:ext cx="11493500" cy="1955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80" b="0" spc="308">
                <a:solidFill>
                  <a:srgbClr val="6E6E73"/>
                </a:solidFill>
                <a:latin typeface="Helvetica Neue"/>
              </a:rPr>
              <a:t>NOT ON THE LIVE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500" y="524470"/>
            <a:ext cx="11493500" cy="6407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060" b="1" spc="-145">
                <a:solidFill>
                  <a:srgbClr val="1D1D1F"/>
                </a:solidFill>
                <a:latin typeface="Helvetica Neue"/>
              </a:rPr>
              <a:t>Built and </a:t>
            </a:r>
            <a:r>
              <a:rPr sz="4060" b="1" spc="-145">
                <a:solidFill>
                  <a:srgbClr val="0071E3"/>
                </a:solidFill>
                <a:latin typeface="Helvetica Neue"/>
              </a:rPr>
              <a:t>checked</a:t>
            </a:r>
            <a:r>
              <a:rPr sz="4060" b="1" spc="-145">
                <a:solidFill>
                  <a:srgbClr val="1D1D1F"/>
                </a:solidFill>
                <a:latin typeface="Helvetica Neue"/>
              </a:rPr>
              <a:t> by machines too.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00" y="974129"/>
            <a:ext cx="11493500" cy="2933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70" b="0">
                <a:solidFill>
                  <a:srgbClr val="6E6E73"/>
                </a:solidFill>
                <a:latin typeface="Helvetica Neue"/>
              </a:rPr>
              <a:t>Whether to interrupt is plain code. Only her words go to a model — so only her words need evals.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350" y="2032496"/>
            <a:ext cx="6550957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1" spc="-37">
                <a:solidFill>
                  <a:srgbClr val="1D1D1F"/>
                </a:solidFill>
                <a:latin typeface="Helvetica Neue"/>
              </a:rPr>
              <a:t>Devin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50" y="2373411"/>
            <a:ext cx="6449357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90" b="0">
                <a:solidFill>
                  <a:srgbClr val="6E6E73"/>
                </a:solidFill>
                <a:latin typeface="Helvetica Neue"/>
              </a:rPr>
              <a:t>three PRs, all merged into 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350" y="2650827"/>
            <a:ext cx="435897" cy="2025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90" b="1" spc="-25">
                <a:solidFill>
                  <a:srgbClr val="0071E3"/>
                </a:solidFill>
                <a:latin typeface="Helvetica Neue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50" y="2806402"/>
            <a:ext cx="6423957" cy="2095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6E6E73"/>
                </a:solidFill>
                <a:latin typeface="Helvetica Neue"/>
              </a:rPr>
              <a:t>ten frozen cases, offline scorer, results 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350" y="3037383"/>
            <a:ext cx="463609" cy="2025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90" b="1" spc="-25">
                <a:solidFill>
                  <a:srgbClr val="0071E3"/>
                </a:solidFill>
                <a:latin typeface="Helvetica Neue"/>
              </a:rPr>
              <a:t>#2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350" y="3192958"/>
            <a:ext cx="6423957" cy="2095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6E6E73"/>
                </a:solidFill>
                <a:latin typeface="Helvetica Neue"/>
              </a:rPr>
              <a:t>RRULE/RDATE/EXDATE expanded in the feed poller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350" y="3423939"/>
            <a:ext cx="468699" cy="2025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90" b="1" spc="-25">
                <a:solidFill>
                  <a:srgbClr val="0071E3"/>
                </a:solidFill>
                <a:latin typeface="Helvetica Neue"/>
              </a:rP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350" y="3579514"/>
            <a:ext cx="6423957" cy="2095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6E6E73"/>
                </a:solidFill>
                <a:latin typeface="Helvetica Neue"/>
              </a:rPr>
              <a:t>spoken chair lines fitted to the 20-word budget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5517" y="2032496"/>
            <a:ext cx="6551146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1" spc="-37">
                <a:solidFill>
                  <a:srgbClr val="1D1D1F"/>
                </a:solidFill>
                <a:latin typeface="Helvetica Neue"/>
              </a:rPr>
              <a:t>Quality Clouds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5517" y="2373411"/>
            <a:ext cx="6449546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90" b="0">
                <a:solidFill>
                  <a:srgbClr val="6E6E73"/>
                </a:solidFill>
                <a:latin typeface="Helvetica Neue"/>
              </a:rPr>
              <a:t>Norma scanned the repo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5517" y="2692896"/>
            <a:ext cx="6462246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1">
                <a:solidFill>
                  <a:srgbClr val="087443"/>
                </a:solidFill>
                <a:latin typeface="Helvetica Neue"/>
              </a:rPr>
              <a:t>findings fixed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3467" y="3048892"/>
            <a:ext cx="6026636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1" spc="16">
                <a:solidFill>
                  <a:srgbClr val="1D1D1F"/>
                </a:solidFill>
                <a:latin typeface="Helvetica Neue"/>
              </a:rPr>
              <a:t>What it improved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3467" y="3220342"/>
            <a:ext cx="2260282" cy="1854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>
                <a:solidFill>
                  <a:srgbClr val="B0B3BE"/>
                </a:solidFill>
                <a:latin typeface="Helvetica Neue"/>
              </a:rPr>
              <a:t>— fill in before the pitch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9783" y="2032496"/>
            <a:ext cx="3668216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1" spc="-37">
                <a:solidFill>
                  <a:srgbClr val="1D1D1F"/>
                </a:solidFill>
                <a:latin typeface="Helvetica Neue"/>
              </a:rPr>
              <a:t>Galtea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9783" y="2373411"/>
            <a:ext cx="3668216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90" b="0">
                <a:solidFill>
                  <a:srgbClr val="6E6E73"/>
                </a:solidFill>
                <a:latin typeface="Helvetica Neue"/>
              </a:rPr>
              <a:t>ten frozen cases, traces sent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9783" y="2692896"/>
            <a:ext cx="3668216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1">
                <a:solidFill>
                  <a:srgbClr val="087443"/>
                </a:solidFill>
                <a:latin typeface="Helvetica Neue"/>
              </a:rPr>
              <a:t>scored, 5 dimensions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7733" y="3048892"/>
            <a:ext cx="3560266" cy="223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1" spc="16">
                <a:solidFill>
                  <a:srgbClr val="1D1D1F"/>
                </a:solidFill>
                <a:latin typeface="Helvetica Neue"/>
              </a:rPr>
              <a:t>What it improved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7733" y="3220342"/>
            <a:ext cx="2260282" cy="1854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>
                <a:solidFill>
                  <a:srgbClr val="B0B3BE"/>
                </a:solidFill>
                <a:latin typeface="Helvetica Neue"/>
              </a:rPr>
              <a:t>— fill in before the pitch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4500" y="1324967"/>
            <a:ext cx="3475632" cy="4304407"/>
          </a:xfrm>
          <a:prstGeom prst="roundRect">
            <a:avLst>
              <a:gd name="adj" fmla="val 3654"/>
            </a:avLst>
          </a:prstGeom>
          <a:solidFill>
            <a:srgbClr val="FFFFFF"/>
          </a:solidFill>
          <a:ln w="9525">
            <a:solidFill>
              <a:srgbClr val="C9DC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1350" y="1830685"/>
            <a:ext cx="3081932" cy="42545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58183" y="1324967"/>
            <a:ext cx="3475632" cy="4304407"/>
          </a:xfrm>
          <a:prstGeom prst="roundRect">
            <a:avLst>
              <a:gd name="adj" fmla="val 3654"/>
            </a:avLst>
          </a:prstGeom>
          <a:solidFill>
            <a:srgbClr val="FFFFFF"/>
          </a:solidFill>
          <a:ln w="9525">
            <a:solidFill>
              <a:srgbClr val="E4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55033" y="1830685"/>
            <a:ext cx="3081932" cy="42545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55033" y="2338387"/>
            <a:ext cx="3081932" cy="42545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71867" y="1324967"/>
            <a:ext cx="3475632" cy="4304407"/>
          </a:xfrm>
          <a:prstGeom prst="roundRect">
            <a:avLst>
              <a:gd name="adj" fmla="val 3654"/>
            </a:avLst>
          </a:prstGeom>
          <a:solidFill>
            <a:srgbClr val="FFFFFF"/>
          </a:solidFill>
          <a:ln w="9525">
            <a:solidFill>
              <a:srgbClr val="E4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68717" y="1830685"/>
            <a:ext cx="3081932" cy="42545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68717" y="2338387"/>
            <a:ext cx="3081932" cy="42545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68717" y="2846089"/>
            <a:ext cx="3081932" cy="5969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eck-glyphs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4500" y="288032"/>
            <a:ext cx="11493500" cy="1955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80" b="0" spc="308">
                <a:solidFill>
                  <a:srgbClr val="6E6E73"/>
                </a:solidFill>
                <a:latin typeface="Helvetica Neue"/>
              </a:rPr>
              <a:t>WHERE THIS GOES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500" y="524470"/>
            <a:ext cx="11493500" cy="6407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060" b="1" spc="-145">
                <a:solidFill>
                  <a:srgbClr val="1D1D1F"/>
                </a:solidFill>
                <a:latin typeface="Helvetica Neue"/>
              </a:rPr>
              <a:t>Discord was the </a:t>
            </a:r>
            <a:r>
              <a:rPr sz="4060" b="1" spc="-145">
                <a:solidFill>
                  <a:srgbClr val="0071E3"/>
                </a:solidFill>
                <a:latin typeface="Helvetica Neue"/>
              </a:rPr>
              <a:t>demo</a:t>
            </a:r>
            <a:r>
              <a:rPr sz="4060" b="1" spc="-145">
                <a:solidFill>
                  <a:srgbClr val="1D1D1F"/>
                </a:solidFill>
                <a:latin typeface="Helvetica Neue"/>
              </a:rPr>
              <a:t>. Teams is the </a:t>
            </a:r>
            <a:r>
              <a:rPr sz="4060" b="1" spc="-145">
                <a:solidFill>
                  <a:srgbClr val="0071E3"/>
                </a:solidFill>
                <a:latin typeface="Helvetica Neue"/>
              </a:rPr>
              <a:t>product</a:t>
            </a:r>
            <a:r>
              <a:rPr sz="4060" b="1" spc="-145">
                <a:solidFill>
                  <a:srgbClr val="1D1D1F"/>
                </a:solidFill>
                <a:latin typeface="Helvetica Neue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500" y="974129"/>
            <a:ext cx="11493500" cy="2933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70" b="0">
                <a:solidFill>
                  <a:srgbClr val="6E6E73"/>
                </a:solidFill>
                <a:latin typeface="Helvetica Neue"/>
              </a:rPr>
              <a:t>One container knows what a voice call is. Everything else already doesn't care.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350" y="1523305"/>
            <a:ext cx="6046172" cy="2095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300">
                <a:solidFill>
                  <a:srgbClr val="087443"/>
                </a:solidFill>
                <a:latin typeface="Helvetica Neue"/>
              </a:rPr>
              <a:t>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5850" y="1830685"/>
            <a:ext cx="1744255" cy="363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20" b="1" spc="-26">
                <a:solidFill>
                  <a:srgbClr val="1D1D1F"/>
                </a:solidFill>
                <a:latin typeface="Helvetica Neue"/>
              </a:rPr>
              <a:t>Discord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5850" y="2084685"/>
            <a:ext cx="1642655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36">
                <a:solidFill>
                  <a:srgbClr val="6E6E73"/>
                </a:solidFill>
                <a:latin typeface="Helvetica Neue"/>
              </a:rPr>
              <a:t>one room,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34432" y="3362821"/>
            <a:ext cx="855156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20" b="0">
                <a:solidFill>
                  <a:srgbClr val="C2C6D2"/>
                </a:solidFill>
                <a:latin typeface="Helvetica Neue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5033" y="1523305"/>
            <a:ext cx="6046172" cy="2095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300">
                <a:solidFill>
                  <a:srgbClr val="0071E3"/>
                </a:solidFill>
                <a:latin typeface="Helvetica Neue"/>
              </a:rPr>
              <a:t>NEXT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9533" y="1830685"/>
            <a:ext cx="2115065" cy="363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20" b="1" spc="-26">
                <a:solidFill>
                  <a:srgbClr val="1D1D1F"/>
                </a:solidFill>
                <a:latin typeface="Helvetica Neue"/>
              </a:rPr>
              <a:t>Google Meet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9533" y="2084685"/>
            <a:ext cx="2013465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36">
                <a:solidFill>
                  <a:srgbClr val="6E6E73"/>
                </a:solidFill>
                <a:latin typeface="Helvetica Neue"/>
              </a:rPr>
              <a:t>adapter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9533" y="2338387"/>
            <a:ext cx="1142702" cy="363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20" b="1" spc="-26">
                <a:solidFill>
                  <a:srgbClr val="1D1D1F"/>
                </a:solidFill>
                <a:latin typeface="Helvetica Neue"/>
              </a:rPr>
              <a:t>Zoom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9533" y="2592387"/>
            <a:ext cx="1041102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36">
                <a:solidFill>
                  <a:srgbClr val="6E6E73"/>
                </a:solidFill>
                <a:latin typeface="Helvetica Neue"/>
              </a:rPr>
              <a:t>adapter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48116" y="3362821"/>
            <a:ext cx="855156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20" b="0">
                <a:solidFill>
                  <a:srgbClr val="C2C6D2"/>
                </a:solidFill>
                <a:latin typeface="Helvetica Neue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8717" y="1523305"/>
            <a:ext cx="3469282" cy="2095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300">
                <a:solidFill>
                  <a:srgbClr val="B25000"/>
                </a:solidFill>
                <a:latin typeface="Helvetica Neue"/>
              </a:rPr>
              <a:t>THEN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13217" y="1830685"/>
            <a:ext cx="2641778" cy="363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20" b="1" spc="-26">
                <a:solidFill>
                  <a:srgbClr val="1D1D1F"/>
                </a:solidFill>
                <a:latin typeface="Helvetica Neue"/>
              </a:rPr>
              <a:t>Microsoft Teams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3217" y="2084685"/>
            <a:ext cx="2540178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36">
                <a:solidFill>
                  <a:srgbClr val="6E6E73"/>
                </a:solidFill>
                <a:latin typeface="Helvetica Neue"/>
              </a:rPr>
              <a:t>enterprise add-on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3217" y="2338387"/>
            <a:ext cx="3024782" cy="363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20" b="1" spc="-26">
                <a:solidFill>
                  <a:srgbClr val="1D1D1F"/>
                </a:solidFill>
                <a:latin typeface="Helvetica Neue"/>
              </a:rPr>
              <a:t>Company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3217" y="2592387"/>
            <a:ext cx="3024782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36">
                <a:solidFill>
                  <a:srgbClr val="6E6E73"/>
                </a:solidFill>
                <a:latin typeface="Helvetica Neue"/>
              </a:rPr>
              <a:t>set once, enforced in every meeting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3217" y="2846089"/>
            <a:ext cx="3024782" cy="363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20" b="1" spc="-26">
                <a:solidFill>
                  <a:srgbClr val="1D1D1F"/>
                </a:solidFill>
                <a:latin typeface="Helvetica Neue"/>
              </a:rPr>
              <a:t>Hand-off plugin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3217" y="3100089"/>
            <a:ext cx="2971530" cy="4229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36">
                <a:solidFill>
                  <a:srgbClr val="6E6E73"/>
                </a:solidFill>
                <a:latin typeface="Helvetica Neue"/>
              </a:rPr>
              <a:t>transcript, decisions and open items into the team's own knowledge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500" y="5791894"/>
            <a:ext cx="2520424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80" b="1" spc="-24">
                <a:solidFill>
                  <a:srgbClr val="0071E3"/>
                </a:solidFill>
                <a:latin typeface="Helvetica Neue"/>
              </a:rPr>
              <a:t>Time governance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4500" y="6035079"/>
            <a:ext cx="11493500" cy="4229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60" b="0" spc="-24">
                <a:solidFill>
                  <a:srgbClr val="6E6E73"/>
                </a:solidFill>
                <a:latin typeface="Helvetica Neue"/>
              </a:rPr>
              <a:t>Notes tell you what happened. Karen changes what happens — inside the hour. At enterprise scale the rules stop being per-meeting: no agenda, no booking, and how hard she chairs is set company-wide, not by whoever called the meeting. And what the meeting produced does not stop at the call: the transcript, the decisions and the open items are handed to whatever agent already keeps the company's knowledge.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